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47472" cy="6858000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55480" y="0"/>
            <a:ext cx="347472" cy="6858000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347472" cy="6858000"/>
          </a:xfrm>
          <a:prstGeom prst="rect">
            <a:avLst/>
          </a:prstGeom>
          <a:solidFill>
            <a:srgbClr val="78A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0D2EB"/>
                </a:solidFill>
                <a:latin typeface="Aptos"/>
              </a:defRPr>
            </a:pPr>
            <a:r>
              <a:t>CeDInt-SEF · DataPack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4208"/>
            <a:ext cx="7772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Sprint 1 &amp; Sprint 2</a:t>
            </a:r>
            <a:br/>
            <a:r>
              <a:t>Execution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10128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A task-by-task launch and review guide for the Data Understanding → Data Preparation transition.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90288"/>
            <a:ext cx="100584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604003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4590288"/>
            <a:ext cx="105156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10512" y="4604003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SCRUM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4590288"/>
            <a:ext cx="1325880" cy="310896"/>
          </a:xfrm>
          <a:prstGeom prst="roundRect">
            <a:avLst/>
          </a:prstGeom>
          <a:solidFill>
            <a:srgbClr val="4F7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80944" y="4604003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CRISP-DM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DDCE9"/>
                </a:solidFill>
                <a:latin typeface="Aptos"/>
              </a:defRPr>
            </a:pPr>
            <a:r>
              <a:t>Purpose: launch each sprint with a shared definition of success, then use the same deck to verify completion.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Sprint execution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Data Understanding &amp;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78608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Late September → early October · establish the factual foundation before cleaning and modelling.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49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PM² + SCRUM + CRISP-DM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4008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67AD"/>
                </a:solidFill>
                <a:latin typeface="Aptos"/>
              </a:defRPr>
            </a:pPr>
            <a:r>
              <a:t>SPRINT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024128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C2B49"/>
                </a:solidFill>
                <a:latin typeface="Aptos"/>
              </a:defRPr>
            </a:pPr>
            <a:r>
              <a:t>Build a trustworthy understanding of the historical Excel landscape, telemetry semantics, time coverage and ingestion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9339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993392"/>
            <a:ext cx="50292" cy="102412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1214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496312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81F2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9339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1993392"/>
            <a:ext cx="50292" cy="102412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1214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STORY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496312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81F2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993392"/>
            <a:ext cx="26974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32520" y="1993392"/>
            <a:ext cx="50292" cy="102412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7112" y="21214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CRISP-DM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496312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73552"/>
            <a:ext cx="7086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273552"/>
            <a:ext cx="50292" cy="1298448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3401568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WHAT WE SHOULD HAVE AT THE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776472"/>
            <a:ext cx="676656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F26"/>
                </a:solidFill>
                <a:latin typeface="Aptos"/>
              </a:defRPr>
            </a:pPr>
            <a:r>
              <a:t>A complete source inventory, central data dictionary, temporal/quality profile and reproducible ingestion layer are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828032"/>
            <a:ext cx="7086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C67AD"/>
                </a:solidFill>
                <a:latin typeface="Aptos"/>
              </a:defRPr>
            </a:pPr>
            <a:r>
              <a:t>SPRINT TASKS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193792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C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81728" y="5175504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US-005 — Inventory all supplied Excel extracts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5504688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C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1728" y="54864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US-006 — Catalogue telemetry by device family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5815583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C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1728" y="579729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US-007 — Create the central data dictionary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6126479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C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1728" y="610819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US-008 — Profile temporal coverage and granularity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6437375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C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1728" y="641908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US-009 — Profile missingness and anomalies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4035" y="510844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rPr dirty="0"/>
              <a:t>US-010 — Build a reproducible Excel ingestion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54035" y="542199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rPr dirty="0"/>
              <a:t>US-011 — </a:t>
            </a:r>
            <a:r>
              <a:rPr dirty="0" err="1"/>
              <a:t>Standardise</a:t>
            </a:r>
            <a:r>
              <a:rPr dirty="0"/>
              <a:t> timestamps and time zones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54035" y="5728667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US-012 — Detect irregular sampling frequencies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4035" y="6089904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rPr dirty="0"/>
              <a:t>US-017 — Represent the Building → Floor → Zone hierarchy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Inventory all supplied Excel extracts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engineer, I want a complete inventory of source files so that ingestion is systematic and no supplied dataset is silently omitted.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a complete source-of-truth for the historical Excel landscape.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Prevents silent dataset omissions before ingestion begins.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Defines exactly what must be loaded.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Makes coverage, provenance and later QA auditable.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Each source file has a recorded filename, source period if available, floor/zone context if available, device family and expected content.</a:t>
            </a:r>
            <a:br/>
            <a:r>
              <a:t>• Duplicate or superseded extracts are identified.</a:t>
            </a:r>
            <a:br/>
            <a:r>
              <a:t>• Inventory is version-controlled.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Source inventory file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Duplicate/superseded extract log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Version-controlled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Catalogue telemetry by device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telemetry keys catalogued by device family so that variables are interpreted consistently.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Telemetry keys have different meanings across device families.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Business Case explicitly includes BM321, BMT01, BMP02, BSens, BSA02 and BSL01.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Prevents semantic mistakes in feature selection.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Provides the vocabulary used by the data dictionary and modelling.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BM321, BMT01, BMP02, BSens, BSA02 and BSL01 are represented where present in the extracts.</a:t>
            </a:r>
            <a:br/>
            <a:r>
              <a:t>• Units/meaning are documented when provided by the source.</a:t>
            </a:r>
            <a:br/>
            <a:r>
              <a:t>• Unknown keys are flagged rather than guessed.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Telemetry catalogue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Unknown-key list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Units / meanings where available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Create the central 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the team, we want a single data dictionary so that device IDs, telemetry keys and spatial attributes are joined consistently.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project needs one authoritative semantic layer for IDs, telemetry and spatial attributes.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It becomes the reference for downstream transformations.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Avoids inconsistent joins and duplicated definitions.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traceability from raw source to analytical dataset.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Unique device ID, device family, telemetry key, unit, source file, time field and spatial fields are represented.</a:t>
            </a:r>
            <a:br/>
            <a:r>
              <a:t>• Mapping provenance is recorded.</a:t>
            </a:r>
            <a:br/>
            <a:r>
              <a:t>• The dictionary is used by downstream transformations.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Central data dictionary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Mapping provenance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Reference used downstream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Profile temporal coverage and granularity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analyst, I want to understand temporal coverage and sampling frequency so that modelling windows are realistic.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Time-series modelling depends on knowing when data exists and at what frequency.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Irregular sampling is a named project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Identifies realistic modelling windows.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Provides evidence for resampling decisions in Sprint 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Start/end timestamps and observed sampling intervals are reported by relevant dataset/device family.</a:t>
            </a:r>
            <a:br/>
            <a:r>
              <a:t>• Irregular sampling is quantified.</a:t>
            </a:r>
            <a:br/>
            <a:r>
              <a:t>• Periods with insufficient coverage are flagged.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Coverage table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Sampling-frequency profile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Insufficient periods flagged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Profile missingness and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analyst, I want missingness and anomalous values quantified so that cleaning decisions are evidence-based.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Missing values and anomalies can distort later cleaning and models.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Reset-related patterns must be understood before treatment.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Turns cleaning into evidence-based decisions.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the anomaly baseline used by Sprint 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Missing values are reported by key/device/time period.</a:t>
            </a:r>
            <a:br/>
            <a:r>
              <a:t>• Candidate outliers and reset-related patterns are summarised.</a:t>
            </a:r>
            <a:br/>
            <a:r>
              <a:t>• Cleaning decisions are logged with rationale.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Missingness report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Anomaly/reset summary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Cleaning decision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Build a reproducible Excel ingestion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engineer, I want repeatable Excel ingestion so that the same source extracts can recreate the analytical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Manual Excel handling is not reproducible enough for a controlled DataPack.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project needs repeatable ingestion before transformation.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One procedure can recreate the analytical input.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Preserves source provenance and supports reproducibility.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Multiple source files can be loaded through a consistent procedure.</a:t>
            </a:r>
            <a:br/>
            <a:r>
              <a:t>• Column names and data types are standardised.</a:t>
            </a:r>
            <a:br/>
            <a:r>
              <a:t>• The process records source filename and ingestion timestamp.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Reusable ingestion script/notebook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Standardised schema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Source provenance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Standardise timestamps and time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US-008, US-010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a consistent time representation so that time-series aggregation and external joins are correct.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Time alignment is required for aggregation and any contextual joins.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Invalid timestamps must be visible rather than silently corrected.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one consistent temporal convention.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Reduces downstream temporal leakage and join errors.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Timestamp parsing is deterministic.</a:t>
            </a:r>
            <a:br/>
            <a:r>
              <a:t>• Invalid timestamps are reported.</a:t>
            </a:r>
            <a:br/>
            <a:r>
              <a:t>• A single documented time convention is used throughout the analytical dataset.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Timestamp transformation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Invalid timestamp report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Documented time convention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Detect irregular sampling frequencies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US-008, US-011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engineer, I want sampling irregularities detected so that resampling decisions are explicit.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Sampling frequency is not assumed to be uniform.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team needs to distinguish expected from observed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Defines which periods require treatment.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Feeds the resampling rules implemented in Sprint 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Sampling intervals are calculated per relevant series.</a:t>
            </a:r>
            <a:br/>
            <a:r>
              <a:t>• Expected/observed frequencies are compared.</a:t>
            </a:r>
            <a:br/>
            <a:r>
              <a:t>• Irregular periods are flagged for treatment.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Frequency comparison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Irregular-period flags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Treatment input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Represent the Building → Floor → Zone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Understanding /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C67AD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the project, we want an explicit spatial hierarchy so that energy consumption can be interpreted in physical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CeDInt case is explicitly structured as Building → Floor → Zone.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supplied plans show floor-level and orientation-based zones.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Allows energy to be interpreted in physical context.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the semantic structure needed for spatial modelling.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Every mapped record can be traced to building, floor and zone where the source data permits.</a:t>
            </a:r>
            <a:br/>
            <a:r>
              <a:t>• Hierarchy rules are documented.</a:t>
            </a:r>
            <a:br/>
            <a:r>
              <a:t>• Unmapped records are flagged.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Hierarchy schema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Unmapped-record list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Rules document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Sprint 1 — Data Readiness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C67AD"/>
                </a:solidFill>
                <a:latin typeface="Aptos"/>
              </a:defRPr>
            </a:pPr>
            <a:r>
              <a:t>SPRINT 1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C2B49"/>
                </a:solidFill>
                <a:latin typeface="Aptos"/>
              </a:defRPr>
            </a:pPr>
            <a:r>
              <a:t>Use this slide at the end of the sprint: every item must be evidenced, not simply declared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4480560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292" cy="4480560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45336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DEFINITION OF DONE / REVIEW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5166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All supplied Excel extracts are inventoried and version-controlled.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Device families and telemetry keys are catalogued; unknown keys are flagged.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The central data dictionary exists and is used as the semantic reference.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Temporal coverage and sampling frequencies are quantified.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Missingness and anomalies are quantified; cleaning decisions are logged.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Excel ingestion is reproducible and preserves source provenance.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Timestamps follow one documented convention.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Building → Floor → Zone is represented where source data permits.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No critical discovery is silently hidden from the backlog/risk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394960" cy="4480560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4480560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453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202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Source inventory + file catalogue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Telemetry catalogue + unknown-key list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Central data dictionary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Coverage / sampling profile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Missingness + anomaly report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Reproducible ingestion script/notebook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Timestamp QA output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Initial spatial hierarchy / mapping structure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Updated decision, issue and risk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332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C2B49"/>
                </a:solidFill>
                <a:latin typeface="Aptos"/>
              </a:defRPr>
            </a:pPr>
            <a:r>
              <a:t>Decision:  ☐ Accepted  ☐ Accepted with actions  ☐ Re-plan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Sprint review · PM² quality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651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Data Quality &amp; Spatial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78608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Early → mid October · convert the Sprint 1 understanding into a controlled modelling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49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PM² + SCRUM + CRISP-DM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4008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858B"/>
                </a:solidFill>
                <a:latin typeface="Aptos"/>
              </a:defRPr>
            </a:pPr>
            <a:r>
              <a:t>SPRINT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024128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C2B49"/>
                </a:solidFill>
                <a:latin typeface="Aptos"/>
              </a:defRPr>
            </a:pPr>
            <a:r>
              <a:t>Resolve sampling, reset and missing-data issues while building and validating the Building → Floor → Zone semantic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9339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993392"/>
            <a:ext cx="50292" cy="102412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1214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496312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81F2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93392"/>
            <a:ext cx="2057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1993392"/>
            <a:ext cx="50292" cy="102412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212140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STORY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496312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>
                <a:solidFill>
                  <a:srgbClr val="181F26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993392"/>
            <a:ext cx="26974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32520" y="1993392"/>
            <a:ext cx="50292" cy="102412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7112" y="21214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CRISP-DM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496312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273552"/>
            <a:ext cx="70866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273552"/>
            <a:ext cx="50292" cy="1298448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3401568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WHAT WE SHOULD HAVE AT THE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776472"/>
            <a:ext cx="676656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F26"/>
                </a:solidFill>
                <a:latin typeface="Aptos"/>
              </a:defRPr>
            </a:pPr>
            <a:r>
              <a:t>Data Readiness Gate G1 is passed: no critical unresolved data-quality or spatial-integrity issue blocks feature engineering.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828032"/>
            <a:ext cx="7086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E858B"/>
                </a:solidFill>
                <a:latin typeface="Aptos"/>
              </a:defRPr>
            </a:pPr>
            <a:r>
              <a:t>SPRINT TASKS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193792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E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81728" y="5175504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US-013 — Define resampling and aggregation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5504688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E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1728" y="54864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US-014 — Detect device-reset interference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5815583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E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1728" y="579729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US-015 — Treat missing and invalid observations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6126479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E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1728" y="6108192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US-016 — Produce a clean analytical dataset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6437375"/>
            <a:ext cx="2011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1E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1728" y="641908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US-018 — Map device IDs to zones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6700" y="515721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rPr dirty="0"/>
              <a:t>US-019 — Validate orientation-based zone naming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4015" y="542199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US-020 — Reconcile floor-plan context with dataset mappings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6700" y="5712049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rPr dirty="0"/>
              <a:t>US-021 — Handle floor-specific HVAC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6700" y="60229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81F26"/>
                </a:solidFill>
                <a:latin typeface="Aptos"/>
              </a:defRPr>
            </a:pPr>
            <a:r>
              <a:t>US-022 — Create a spatial validation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Define resampling and aggregation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documented resampling rules so that energy and environmental signals remain analytically meaningful.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Different variables require different aggregation/interpolation logic.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Blind interpolation can create artificial energy/environmental signals.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Locks an explicit modelling granularity.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Makes preparation choices reproducible and reviewable.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A target modelling granularity is defined and documented.</a:t>
            </a:r>
            <a:br/>
            <a:r>
              <a:t>• Aggregation functions are specified by variable type.</a:t>
            </a:r>
            <a:br/>
            <a:r>
              <a:t>• No interpolation is applied blindly to variables for which it is inappropriate.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Resampling specification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Aggregation matrix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Interpolation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Detect device-reset interference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US-009, US-012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 engineer, I want reset-related interference identified so that hardware artefacts do not distort model training.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Unexpected device resets are explicitly identified as a data-quality issue.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Reset artefacts can create false patterns in model training.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Separates hardware artefacts from genuine behaviour.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Keeps original values recoverable for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Reset signatures are detected using documented rules/statistics.</a:t>
            </a:r>
            <a:br/>
            <a:r>
              <a:t>• Affected intervals are tagged.</a:t>
            </a:r>
            <a:br/>
            <a:r>
              <a:t>• The original values remain recoverable for audit.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Reset-detection rule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Affected-interval table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Original-value traceability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Treat missing and invalid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US-013, US-014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missing/invalid values treated according to documented rules so that the modelling dataset is coherent.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model must train on coherent data without hiding how values were repaired.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Not every observation can be reliably reconstructed.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Creates traceable imputation/exclusion rules.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Protects the credibility of the final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Each treatment is traceable to a rule.</a:t>
            </a:r>
            <a:br/>
            <a:r>
              <a:t>• Imputed/interpolated values are flagged.</a:t>
            </a:r>
            <a:br/>
            <a:r>
              <a:t>• Rows that cannot be reliably repaired are excluded with a documented reason.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Treatment log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Imputation flags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Exclusion reasons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Produce a clean analytical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US-015, US-022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the modelling team, we want a clean, validated dataset so that feature engineering can start from a controlled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Feature engineering should only start after a formal data-readiness gate.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clean dataset is the controlled baseline for the rest of the project.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Prevents downstream work from building on unresolved quality issues.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Provides a versioned dataset and QA evidence.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Schema is validated.</a:t>
            </a:r>
            <a:br/>
            <a:r>
              <a:t>• Temporal, missingness and reset checks pass against defined thresholds.</a:t>
            </a:r>
            <a:br/>
            <a:r>
              <a:t>• Data-quality summary is published.</a:t>
            </a:r>
            <a:br/>
            <a:r>
              <a:t>• Dataset version is recorded.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Versioned clean dataset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QA summary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Data-readiness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R1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Map device IDs to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US-007, US-017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devices linked to their zones through unique IDs so that telemetry is spatially attributable.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Device IDs are the authoritative bridge between telemetry and physical context.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Ad-hoc manual joins would undermine reproducibility.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Makes every mapped record spatially attributable.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Enables zone-level aggregation and contextual features.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Mappings use the established unique device IDs.</a:t>
            </a:r>
            <a:br/>
            <a:r>
              <a:t>• Manual ad-hoc joins are not used as the authoritative mapping.</a:t>
            </a:r>
            <a:br/>
            <a:r>
              <a:t>• Ambiguous mappings are flagged for 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Device-to-zone mapping table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Ambiguity list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Join logic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Validate orientation-based zone naming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data-quality owner, I want zone naming conventions validated so that identifiers such as 1NE/1NO are interpreted consistently.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Identifiers such as 1NE and 1NO encode floor and orientation.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Incorrect parsing would propagate spatial errors.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Standardises the naming convention.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Flags unexpected labels before they enter the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Naming patterns are documented.</a:t>
            </a:r>
            <a:br/>
            <a:r>
              <a:t>• Floor number and orientation components are parsed where valid.</a:t>
            </a:r>
            <a:br/>
            <a:r>
              <a:t>• Invalid or unexpected labels are flagged rather than silently transformed.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Naming convention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Parser/validation result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Invalid-label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Reconcile floor-plan context with dataset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D39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Should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US-018, US-019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 reviewer, I want spatial mappings checked against the supplied floor-plan visuals so that the semantic model reflects the documented building structure.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supplied floor plans are the visual evidence for the building structure.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Spatial semantics should be checked without inventing unsupported locations.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Catches mapping inconsistencies.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Strengthens the credibility of the spatial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Representative device/zone mappings are cross-checked against the supplied plans.</a:t>
            </a:r>
            <a:br/>
            <a:r>
              <a:t>• Exceptions are recorded.</a:t>
            </a:r>
            <a:br/>
            <a:r>
              <a:t>• No unsupported physical location is inferred from visual proximity alone.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Plan cross-check table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Exceptions log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No-inference statement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Handle floor-specific HVAC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D39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Should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an analyst, I want floor-specific HVAC context represented where documented so that model features do not assume identical systems across floors.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HVAC context can differ by floor.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The supplied third-floor plan explicitly notes only four HVAC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Prevents false assumptions of identical HVAC topology.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Preserves documented context for later analysis.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Known floor-level HVAC information is captured where available.</a:t>
            </a:r>
            <a:br/>
            <a:r>
              <a:t>• The third-floor note indicating four HVAC systems is preserved as source context.</a:t>
            </a:r>
            <a:br/>
            <a:r>
              <a:t>• Unknown HVAC topology is not invented.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HVAC context table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Third-floor note retained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Unknowns documented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Create a spatial validation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841248"/>
            <a:ext cx="713232" cy="310896"/>
          </a:xfrm>
          <a:prstGeom prst="round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854964"/>
            <a:ext cx="713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US-022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841248"/>
            <a:ext cx="960120" cy="310896"/>
          </a:xfrm>
          <a:prstGeom prst="round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EP-04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841248"/>
            <a:ext cx="658368" cy="310896"/>
          </a:xfrm>
          <a:prstGeom prst="roundRect">
            <a:avLst/>
          </a:prstGeom>
          <a:solidFill>
            <a:srgbClr val="5D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50008" y="854964"/>
            <a:ext cx="658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 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9816" y="841248"/>
            <a:ext cx="960120" cy="310896"/>
          </a:xfrm>
          <a:prstGeom prst="round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85496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51376" y="841248"/>
            <a:ext cx="1325880" cy="310896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1376" y="85496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0C2B49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85953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D6A77"/>
                </a:solidFill>
                <a:latin typeface="Aptos"/>
              </a:defRPr>
            </a:pPr>
            <a:r>
              <a:t>Dependency: US-018, US-019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61872"/>
            <a:ext cx="11128248" cy="786384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1399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E858B"/>
                </a:solidFill>
                <a:latin typeface="Aptos"/>
              </a:defRPr>
            </a:pPr>
            <a:r>
              <a:t>USER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1353312"/>
            <a:ext cx="9738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0C2B49"/>
                </a:solidFill>
                <a:latin typeface="Aptos"/>
              </a:defRPr>
            </a:pPr>
            <a:r>
              <a:t>As the team, we want a spatial QA report so that hierarchy and device-to-zone integrity are demonstrable.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40280"/>
            <a:ext cx="537667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0352" y="2240280"/>
            <a:ext cx="50292" cy="1298448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2368296"/>
            <a:ext cx="5056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WHY ARE WE DOING THIS?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743200"/>
            <a:ext cx="505663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Spatial integrity is a formal Sprint 2 quality gate.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Unmapped and ambiguous devices must be visible before modelling.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2240280"/>
            <a:ext cx="5559552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9048" y="2240280"/>
            <a:ext cx="50292" cy="1298448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368296"/>
            <a:ext cx="5239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VALUE FOR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5239512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Provides auditable evidence for the spatial model.</a:t>
            </a:r>
          </a:p>
          <a:p>
            <a:pPr>
              <a:spcAft>
                <a:spcPts val="300"/>
              </a:spcAft>
              <a:defRPr sz="1150">
                <a:solidFill>
                  <a:srgbClr val="181F26"/>
                </a:solidFill>
                <a:latin typeface="Aptos"/>
              </a:defRPr>
            </a:pPr>
            <a:r>
              <a:t>Closes the loop between data mapping and PM² quality control.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675887"/>
            <a:ext cx="6995160" cy="2267712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675887"/>
            <a:ext cx="50292" cy="2267712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4944" y="3803903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ACCEPTANCE CRITERIA — WHAT MUST BE TRUE AT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178807"/>
            <a:ext cx="66751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81F26"/>
                </a:solidFill>
                <a:latin typeface="Aptos"/>
              </a:defRPr>
            </a:pPr>
            <a:r>
              <a:t>Coverage of Building → Floor → Zone mapping is quantified.</a:t>
            </a:r>
            <a:br/>
            <a:r>
              <a:t>• Unmapped/ambiguous devices are listed.</a:t>
            </a:r>
            <a:br/>
            <a:r>
              <a:t>• QA evidence is stored with the release documentation.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3675887"/>
            <a:ext cx="39502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08392" y="3675887"/>
            <a:ext cx="50292" cy="1353312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72983" y="3803903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SHOW AT SPRINT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2983" y="4178807"/>
            <a:ext cx="36301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Spatial QA report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Coverage metrics</a:t>
            </a:r>
          </a:p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Unmapped/ambiguous device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5166360"/>
            <a:ext cx="3950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08392" y="5166360"/>
            <a:ext cx="50292" cy="777240"/>
          </a:xfrm>
          <a:prstGeom prst="rect">
            <a:avLst/>
          </a:prstGeom>
          <a:solidFill>
            <a:srgbClr val="B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3" y="5294376"/>
            <a:ext cx="3630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MAIN RISK TO 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72983" y="5669280"/>
            <a:ext cx="3630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81F26"/>
                </a:solidFill>
                <a:latin typeface="Aptos"/>
              </a:defRPr>
            </a:pPr>
            <a:r>
              <a:t>R2 — linked risk in the Product Backlog.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Spatial model — visual cross-check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The floor plans are evidence for the documented building structure; they are not a licence to infer unsupported physical locations.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623560" cy="2167231"/>
          </a:xfrm>
          <a:prstGeom prst="rect">
            <a:avLst/>
          </a:prstGeom>
        </p:spPr>
      </p:pic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40680" cy="29430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5532120"/>
            <a:ext cx="10972800" cy="594360"/>
          </a:xfrm>
          <a:prstGeom prst="roundRect">
            <a:avLst/>
          </a:prstGeom>
          <a:solidFill>
            <a:srgbClr val="E5F0FA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5532120"/>
            <a:ext cx="50292" cy="594360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5660136"/>
            <a:ext cx="10652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CHECK DURING US-020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35040"/>
            <a:ext cx="106527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181F26"/>
                </a:solidFill>
                <a:latin typeface="Aptos"/>
              </a:defRPr>
            </a:pPr>
            <a:r>
              <a:t>Cross-check representative device/zone mappings against the supplied plans; record exceptions; do not infer location from visual proximity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Sprint 2 — Gate G1: Data Readiness &amp; Spatial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858B"/>
                </a:solidFill>
                <a:latin typeface="Aptos"/>
              </a:defRPr>
            </a:pPr>
            <a:r>
              <a:t>SPRINT 2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C2B49"/>
                </a:solidFill>
                <a:latin typeface="Aptos"/>
              </a:defRPr>
            </a:pPr>
            <a:r>
              <a:t>Use this slide at the end of the sprint: every item must be evidenced, not simply declared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4480560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292" cy="4480560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45336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DEFINITION OF DONE / REVIEW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5166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A target modelling granularity is documented.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Aggregation rules are specified by variable type; interpolation is not applied blindly.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Reset-related intervals are detected, tagged and auditable.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Missing/invalid observations are treated with traceable rules.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A versioned clean analytical dataset is produced.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Building → Floor → Zone hierarchy is explicitly represented.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Device IDs are mapped to zones using the authoritative mapping logic.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Zone naming (e.g., 1NE / 1NO) is validated and unexpected labels are flagged.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Floor-plan cross-checks and floor-specific HVAC context are documented where available.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Spatial QA quantifies coverage and lists unmapped/ambiguous devices.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☐ Gate G1: no critical unresolved issue blocks feature engineering.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394960" cy="4480560"/>
          </a:xfrm>
          <a:prstGeom prst="roundRect">
            <a:avLst/>
          </a:prstGeom>
          <a:solidFill>
            <a:srgbClr val="F6F9FC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4480560"/>
          </a:xfrm>
          <a:prstGeom prst="rect">
            <a:avLst/>
          </a:prstGeom>
          <a:solidFill>
            <a:srgbClr val="2E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5453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EVIDENCE TO 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202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Resampling / aggregation specification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Reset-detection and affected-interval evidence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Missing-data treatment log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Versioned clean dataset + data-quality summary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Spatial hierarchy + device-to-zone mapping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Zone naming validation output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Floor-plan cross-check / exceptions log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HVAC context note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Spatial validation report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Updated risk / issue / decision log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Formal G1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332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C2B49"/>
                </a:solidFill>
                <a:latin typeface="Aptos"/>
              </a:defRPr>
            </a:pPr>
            <a:r>
              <a:t>Decision:  ☐ Accepted  ☐ Accepted with actions  ☐ Re-plan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Sprint review · PM² quality gate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C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C2B49"/>
                </a:solidFill>
                <a:latin typeface="Aptos Display"/>
              </a:defRPr>
            </a:pPr>
            <a:r>
              <a:t>What Sprint 1 &amp; 2 unlock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5603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C2B49"/>
                </a:solidFill>
                <a:latin typeface="Aptos"/>
              </a:defRPr>
            </a:pPr>
            <a:r>
              <a:t>TRANSITION TO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C2B49"/>
                </a:solidFill>
                <a:latin typeface="Aptos"/>
              </a:defRPr>
            </a:pPr>
            <a:r>
              <a:t>The objective is not simply to have a clean file — it is to have a defensible modelling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50292" cy="3566160"/>
          </a:xfrm>
          <a:prstGeom prst="rect">
            <a:avLst/>
          </a:prstGeom>
          <a:solidFill>
            <a:srgbClr val="1C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728216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SPRINT 1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Source inventory and provenance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Telemetry semantics and central data dictionary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Temporal coverage and sampling evidence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Missingness / anomaly baseline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Reproducible ingestion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Consistent timestamps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Initial spatial hierarchy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1324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600200"/>
            <a:ext cx="50292" cy="3566160"/>
          </a:xfrm>
          <a:prstGeom prst="rect">
            <a:avLst/>
          </a:prstGeom>
          <a:solidFill>
            <a:srgbClr val="1E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728216"/>
            <a:ext cx="5093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2B49"/>
                </a:solidFill>
                <a:latin typeface="Aptos"/>
              </a:defRPr>
            </a:pPr>
            <a:r>
              <a:t>SPRINT 2 TURNS IT INTO A MODELLING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103120"/>
            <a:ext cx="509320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Explicit resampling and aggregation rules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Reset and missing-data treatment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Versioned clean analytical dataset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Device → zone mapping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Validated Building → Floor → Zone model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Spatial QA evidence</a:t>
            </a:r>
          </a:p>
          <a:p>
            <a:pPr>
              <a:spcAft>
                <a:spcPts val="300"/>
              </a:spcAft>
              <a:defRPr sz="1100">
                <a:solidFill>
                  <a:srgbClr val="181F26"/>
                </a:solidFill>
                <a:latin typeface="Aptos"/>
              </a:defRPr>
            </a:pPr>
            <a:r>
              <a:t>G1 Data Readiness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321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2B49"/>
                </a:solidFill>
                <a:latin typeface="Aptos"/>
              </a:defRPr>
            </a:pPr>
            <a:r>
              <a:t>NEXT: Sprint 3 — Feature Engineering &amp; Baseline Modelling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1616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D6A77"/>
                </a:solidFill>
                <a:latin typeface="Aptos"/>
              </a:defRPr>
            </a:pPr>
            <a:r>
              <a:t>Only after G1 is accepted should the team move into the modelling chain.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A77"/>
                </a:solidFill>
                <a:latin typeface="Aptos"/>
              </a:defRPr>
            </a:pPr>
            <a:r>
              <a:t>CeDInt-SEF · DataPack · PM² + Scrum + CRISP-DM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3970</Words>
  <Application>Microsoft Office PowerPoint</Application>
  <PresentationFormat>Grand écran</PresentationFormat>
  <Paragraphs>590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CHARVET JULES BERNARD</cp:lastModifiedBy>
  <cp:revision>2</cp:revision>
  <dcterms:created xsi:type="dcterms:W3CDTF">2013-01-27T09:14:16Z</dcterms:created>
  <dcterms:modified xsi:type="dcterms:W3CDTF">2026-10-01T16:16:06Z</dcterms:modified>
  <cp:category/>
</cp:coreProperties>
</file>